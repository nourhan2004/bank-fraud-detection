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10896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A5E9"/>
                </a:solidFill>
                <a:latin typeface="Aptos"/>
              </a:rPr>
              <a:t>UNIVERSITY OF ISRA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623560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Bank Fraud</a:t>
            </a:r>
            <a:br/>
            <a:r>
              <a:rPr sz="3400" b="1">
                <a:solidFill>
                  <a:srgbClr val="FFFFFF"/>
                </a:solidFill>
                <a:latin typeface="Aptos Display"/>
              </a:rPr>
              <a:t>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4912"/>
            <a:ext cx="580644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A Machine Learning Approach for Detecting</a:t>
            </a:r>
            <a:br/>
            <a:r>
              <a:rPr sz="1500" b="0">
                <a:solidFill>
                  <a:srgbClr val="CBD5E1"/>
                </a:solidFill>
                <a:latin typeface="Aptos"/>
              </a:rPr>
              <a:t>Suspicious Banking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75887"/>
            <a:ext cx="178308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3707891"/>
            <a:ext cx="17099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A5E9"/>
                </a:solidFill>
                <a:latin typeface="Aptos"/>
              </a:rPr>
              <a:t>GRADUATION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50791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94A3B8"/>
                </a:solidFill>
                <a:latin typeface="Aptos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61104"/>
            <a:ext cx="34747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Eng. Suleiman Al-Masri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2697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Bilal Massad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10328"/>
            <a:ext cx="272491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1">
                <a:solidFill>
                  <a:srgbClr val="AECDFF"/>
                </a:solidFill>
                <a:latin typeface="Aptos"/>
              </a:rPr>
              <a:t>Data Analysis &amp;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709160"/>
            <a:ext cx="2697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Sabeel Abu Shamlah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910328"/>
            <a:ext cx="272491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1">
                <a:solidFill>
                  <a:srgbClr val="AECDFF"/>
                </a:solidFill>
                <a:latin typeface="Aptos"/>
              </a:rPr>
              <a:t>Machine Learning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504688"/>
            <a:ext cx="2697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Nourhan Shahadeh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05855"/>
            <a:ext cx="2724912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AECDFF"/>
                </a:solidFill>
                <a:latin typeface="Aptos"/>
              </a:rPr>
              <a:t>Project Coordination, Data Balancing, Evaluation &amp; System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5504688"/>
            <a:ext cx="2697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Sami Ismail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5705855"/>
            <a:ext cx="272491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1">
                <a:solidFill>
                  <a:srgbClr val="AECDFF"/>
                </a:solidFill>
                <a:latin typeface="Aptos"/>
              </a:rPr>
              <a:t>Research &amp; Technical Documentation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0" y="960120"/>
            <a:ext cx="2926080" cy="2926080"/>
          </a:xfrm>
          <a:prstGeom prst="ellipse">
            <a:avLst/>
          </a:prstGeom>
          <a:noFill/>
          <a:ln w="254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1234440"/>
            <a:ext cx="2377440" cy="237744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01100" y="1481328"/>
            <a:ext cx="1874519" cy="1874519"/>
          </a:xfrm>
          <a:prstGeom prst="ellipse">
            <a:avLst/>
          </a:prstGeom>
          <a:noFill/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entagon 21"/>
          <p:cNvSpPr/>
          <p:nvPr/>
        </p:nvSpPr>
        <p:spPr>
          <a:xfrm>
            <a:off x="9253728" y="2148840"/>
            <a:ext cx="960120" cy="1078992"/>
          </a:xfrm>
          <a:prstGeom prst="homePlat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304288"/>
            <a:ext cx="850392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364992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593592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4748B"/>
                </a:solidFill>
                <a:latin typeface="Aptos"/>
              </a:rPr>
              <a:t>BANK TRANSACTION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931920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•••• 4821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370832"/>
            <a:ext cx="2514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284C7"/>
                </a:solidFill>
                <a:latin typeface="Aptos"/>
              </a:rPr>
              <a:t>SECURE  •  ML MONITORED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88" y="5212080"/>
            <a:ext cx="2423160" cy="53035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5312664"/>
            <a:ext cx="96012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F4444"/>
                </a:solidFill>
                <a:latin typeface="Aptos"/>
              </a:rPr>
              <a:t>FRAUD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5303520"/>
            <a:ext cx="1188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4444"/>
                </a:solidFill>
                <a:latin typeface="Aptos"/>
              </a:rPr>
              <a:t>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5989320"/>
            <a:ext cx="34290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64748B"/>
                </a:solidFill>
                <a:latin typeface="Aptos"/>
              </a:rPr>
              <a:t>AI Graduation Project  •  25-minute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38928"/>
            <a:ext cx="272491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60">
                <a:solidFill>
                  <a:srgbClr val="E6EBF5"/>
                </a:solidFill>
                <a:latin typeface="Arial"/>
              </a:rPr>
              <a:t>تحليل البيانات الأولية، وفهم خصائصها، وتحديد توزيع الفئات، والمساهمة في تجهيز البيانات للتحليل.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5138928"/>
            <a:ext cx="272491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60">
                <a:solidFill>
                  <a:srgbClr val="E6EBF5"/>
                </a:solidFill>
                <a:latin typeface="Arial"/>
              </a:rPr>
              <a:t>العمل على نماذج التصنيف، وتجهيز تجارب التدريب، ومقارنة الخوارزميات المستخدمة في المشروع.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035040"/>
            <a:ext cx="2724912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>
                <a:solidFill>
                  <a:srgbClr val="E6EBF5"/>
                </a:solidFill>
                <a:latin typeface="Arial"/>
              </a:rPr>
              <a:t>تنسيق العمل ومراجعة الملفات ودمج مكونات المشروع، ومعالجة عدم توازن البيانات وتقييم النماذج وربطها بواجهة Flask.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934455"/>
            <a:ext cx="272491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60">
                <a:solidFill>
                  <a:srgbClr val="E6EBF5"/>
                </a:solidFill>
                <a:latin typeface="Arial"/>
              </a:rPr>
              <a:t>البحث العلمي وإعداد التوثيق الفني للمشروع.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Why Does Banking Fraud Need Better Detection?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The challenge is not only finding fraud — it is finding it accurately.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64008" cy="1874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318211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12264"/>
            <a:ext cx="3182112" cy="1252727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Fraudulent transactions are rare, while legitimate transactions dominate the data. This creates a strong class-imbalance challenge.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0020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4370832" y="1600200"/>
            <a:ext cx="64008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35424" y="1737360"/>
            <a:ext cx="318211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Why machine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12264"/>
            <a:ext cx="3182112" cy="1252727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ML can learn transaction patterns and combine many signals such as time, location, device trust and transaction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0020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8083296" y="1600200"/>
            <a:ext cx="64008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47888" y="1737360"/>
            <a:ext cx="318211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Project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112264"/>
            <a:ext cx="3182112" cy="1252727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Can a supervised ML pipeline distinguish legitimate and fraudulent transactions with high recall and precision?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913632"/>
            <a:ext cx="146304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284C7"/>
                </a:solidFill>
                <a:latin typeface="Aptos"/>
              </a:rPr>
              <a:t>PROJECT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24528"/>
            <a:ext cx="10332720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rPr/>
              <a:t>•  Build a complete fraud-detection pipeline from raw data to prediction.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rPr/>
              <a:t>•  Compare multiple machine learning models using the same evaluation criteria.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rPr/>
              <a:t>•  Expose the selected model through a Flask-based web service.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Sami Ismail  •  1:30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Objectives and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A focused end-to-end system: data → model → API → web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64008" cy="2971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59" y="1645919"/>
            <a:ext cx="313639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01  Understand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20824"/>
            <a:ext cx="3136392" cy="23500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Explore distributions, fraud rates, feature relationships and possible risk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4379976" y="1508760"/>
            <a:ext cx="64008" cy="2971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44568" y="1645919"/>
            <a:ext cx="313639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02  Build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20824"/>
            <a:ext cx="3136392" cy="23500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Prepare the data, handle class imbalance, train ML models and select the best performer.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5087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8101583" y="1508760"/>
            <a:ext cx="64008" cy="2971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6175" y="1645919"/>
            <a:ext cx="313639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03  Deliver a usable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020824"/>
            <a:ext cx="3136392" cy="23500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Deploy the trained model behind Flask and connect it to a simple web interface.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56048"/>
            <a:ext cx="91440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4974336"/>
            <a:ext cx="822960" cy="2468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284C7"/>
                </a:solidFill>
                <a:latin typeface="Aptos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956048"/>
            <a:ext cx="15087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Transaction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18688" y="5102352"/>
            <a:ext cx="621792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50208" y="4956048"/>
            <a:ext cx="91440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995928" y="4974336"/>
            <a:ext cx="822960" cy="2468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284C7"/>
                </a:solidFill>
                <a:latin typeface="Aptos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4956048"/>
            <a:ext cx="14173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Fraud / Legitimate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19088" y="5102352"/>
            <a:ext cx="621792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50608" y="4956048"/>
            <a:ext cx="960120" cy="31089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196328" y="4974336"/>
            <a:ext cx="868680" cy="2468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F4444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56048"/>
            <a:ext cx="146304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Prediction +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Sami Ismail  •  2:00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The solution connects data science with a lightweight deployment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828800" cy="960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58952" y="213055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Transaction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874519"/>
            <a:ext cx="182880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044952" y="213055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874519"/>
            <a:ext cx="1828800" cy="960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330952" y="213055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Balancing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182880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616952" y="213055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ML Models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2359152"/>
            <a:ext cx="429768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2359152"/>
            <a:ext cx="429768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2359152"/>
            <a:ext cx="429768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3794760"/>
            <a:ext cx="1828800" cy="960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044952" y="405079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794760"/>
            <a:ext cx="182880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605272" y="405079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Flask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94760"/>
            <a:ext cx="1828800" cy="9601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165592" y="4050792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Web Interface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913632" y="2862072"/>
            <a:ext cx="4544568" cy="86868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00600" y="4279392"/>
            <a:ext cx="667512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79208" y="4279392"/>
            <a:ext cx="685800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3749039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25" name="Rectangle 24"/>
          <p:cNvSpPr/>
          <p:nvPr/>
        </p:nvSpPr>
        <p:spPr>
          <a:xfrm>
            <a:off x="685800" y="3749039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50392" y="3886200"/>
            <a:ext cx="1581911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Aptos"/>
              </a:rPr>
              <a:t>Data →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261104"/>
            <a:ext cx="1581911" cy="6126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Each stage has a clear input and output.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Nourhan Shahadeh  •  2:00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Dataset Snapshot and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EDA was used to understand imbalance, feature behavior and fraud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19" y="1627632"/>
            <a:ext cx="14538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E293B"/>
                </a:solidFill>
                <a:latin typeface="Aptos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66544"/>
            <a:ext cx="1453896" cy="393191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Aptos"/>
              </a:rPr>
              <a:t>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1481328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478024" y="1627632"/>
            <a:ext cx="14538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284C7"/>
                </a:solidFill>
                <a:latin typeface="Aptos"/>
              </a:rPr>
              <a:t>9,849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2066544"/>
            <a:ext cx="1453896" cy="393191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Aptos"/>
              </a:rPr>
              <a:t>legitimate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1376" y="1481328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224528" y="1627632"/>
            <a:ext cx="14538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F4444"/>
                </a:solidFill>
                <a:latin typeface="Aptos"/>
              </a:rPr>
              <a:t>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066544"/>
            <a:ext cx="1453896" cy="393191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Aptos"/>
              </a:rPr>
              <a:t>fraudulent</a:t>
            </a:r>
          </a:p>
        </p:txBody>
      </p:sp>
      <p:pic>
        <p:nvPicPr>
          <p:cNvPr id="13" name="Picture 12" descr="eda_analysis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24418"/>
            <a:ext cx="5486400" cy="33955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2852928"/>
            <a:ext cx="4754880" cy="219456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rPr/>
              <a:t>•  Fraud represents only about 1.5% of the transactions.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rPr/>
              <a:t>•  Transaction amounts are concentrated at lower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rPr/>
              <a:t>•  Fraud patterns vary across time, merchant type and device trust.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Bilal Massad  •  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What Did the EDA Reveal?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The strongest visual signals were related to timing, device trust and transaction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44752"/>
            <a:ext cx="74523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pic>
        <p:nvPicPr>
          <p:cNvPr id="5" name="Picture 4" descr="eda_analysis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93" y="1572768"/>
            <a:ext cx="7165652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54480"/>
            <a:ext cx="3108960" cy="1234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8394192" y="1554480"/>
            <a:ext cx="64008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58784" y="1691639"/>
            <a:ext cx="281635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Aptos"/>
              </a:rPr>
              <a:t>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8784" y="2066543"/>
            <a:ext cx="2816352" cy="6126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64748B"/>
                </a:solidFill>
                <a:latin typeface="Aptos"/>
              </a:rPr>
              <a:t>Legitimate transactions dominate the raw data, so accuracy alone is not enough.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2944368"/>
            <a:ext cx="3108960" cy="1234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8394192" y="2944368"/>
            <a:ext cx="64008" cy="1234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558784" y="3081528"/>
            <a:ext cx="281635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Aptos"/>
              </a:rPr>
              <a:t>Device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456432"/>
            <a:ext cx="2816352" cy="6126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64748B"/>
                </a:solidFill>
                <a:latin typeface="Aptos"/>
              </a:rPr>
              <a:t>Fraudulent cases show a much lower device-trust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4334256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8394192" y="4334256"/>
            <a:ext cx="64008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58784" y="4471416"/>
            <a:ext cx="281635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Aptos"/>
              </a:rPr>
              <a:t>Merchant /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4846320"/>
            <a:ext cx="2816352" cy="6126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64748B"/>
                </a:solidFill>
                <a:latin typeface="Aptos"/>
              </a:rPr>
              <a:t>Fraud rates differ across merchant categories and transaction hours.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Bilal Massad  •  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Feature Preparation and Risk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The model becomes more useful when the input features reflect meaningful transaction behavior.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8114"/>
            <a:ext cx="6858000" cy="37755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536192"/>
            <a:ext cx="141732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1325880" cy="2468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284C7"/>
                </a:solidFill>
                <a:latin typeface="Aptos"/>
              </a:rPr>
              <a:t>TOP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993392"/>
            <a:ext cx="3337560" cy="214884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/>
              <a:t>•  Transaction Hour — 0.294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/>
              <a:t>•  Device Trust Score — 0.247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/>
              <a:t>•  Location Mismatch — 0.131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/>
              <a:t>•  External Transaction — 0.129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/>
              <a:t>•  Transaction Speed — 0.111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315968"/>
            <a:ext cx="3401568" cy="13716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7818120" y="4315968"/>
            <a:ext cx="6400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982712" y="4453128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Aptos"/>
              </a:rPr>
              <a:t>Data balancing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4828031"/>
            <a:ext cx="3108960" cy="7498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0">
                <a:solidFill>
                  <a:srgbClr val="64748B"/>
                </a:solidFill>
                <a:latin typeface="Aptos"/>
              </a:rPr>
              <a:t>The training data was balanced to reduce bias toward the majority class and improve fraud detection.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Nourhan Shahadeh  •  2:00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Machine Learning Models and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Three models were trained and compared using the same prepared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72768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6400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3108960" cy="886967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64748B"/>
                </a:solidFill>
                <a:latin typeface="Aptos"/>
              </a:rPr>
              <a:t>Baseline linear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72768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4480559" y="1572768"/>
            <a:ext cx="64008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45151" y="1709928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084832"/>
            <a:ext cx="3108960" cy="886967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64748B"/>
                </a:solidFill>
                <a:latin typeface="Aptos"/>
              </a:rPr>
              <a:t>Rule-based nonlinear classifier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72768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8229600" y="1572768"/>
            <a:ext cx="64008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94192" y="1709928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084832"/>
            <a:ext cx="3108960" cy="886967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64748B"/>
                </a:solidFill>
                <a:latin typeface="Aptos"/>
              </a:rPr>
              <a:t>Ensemble of decision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9300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284C7"/>
                </a:solidFill>
                <a:latin typeface="Aptos"/>
              </a:rPr>
              <a:t>TRAINING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13632"/>
            <a:ext cx="196596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2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ptos"/>
              </a:rPr>
              <a:t>Cleaned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913632"/>
            <a:ext cx="196596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66160" y="4142232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ptos"/>
              </a:rPr>
              <a:t>Balanced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913632"/>
            <a:ext cx="196596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355080" y="4142232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ptos"/>
              </a:rPr>
              <a:t>Train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913632"/>
            <a:ext cx="196596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0" y="4142232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97480" y="4325112"/>
            <a:ext cx="658368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0" y="4325112"/>
            <a:ext cx="658368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75320" y="4325112"/>
            <a:ext cx="658368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8" y="5166360"/>
            <a:ext cx="102412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4748B"/>
                </a:solidFill>
                <a:latin typeface="Aptos"/>
              </a:rPr>
              <a:t>Evaluation focuses on accuracy, precision, recall, F1-score and AUC.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Sabeel Abu Shamlah  •  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Model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Random Forest achieved the strongest results on the displayed evaluation set.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3838"/>
            <a:ext cx="7635240" cy="21041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22208" y="1572768"/>
            <a:ext cx="1371600" cy="1051560"/>
          </a:xfrm>
          <a:prstGeom prst="round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595360" y="1719072"/>
            <a:ext cx="12252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6A34A"/>
                </a:solidFill>
                <a:latin typeface="Aptos"/>
              </a:rPr>
              <a:t>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157984"/>
            <a:ext cx="1225296" cy="393191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Aptos"/>
              </a:rPr>
              <a:t>Random Forest 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0112" y="1572768"/>
            <a:ext cx="1371600" cy="1051560"/>
          </a:xfrm>
          <a:prstGeom prst="round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113264" y="1719072"/>
            <a:ext cx="1225296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6A34A"/>
                </a:solidFill>
                <a:latin typeface="Aptos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13264" y="2157984"/>
            <a:ext cx="1225296" cy="393191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8" y="2852928"/>
            <a:ext cx="28895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595360" y="2999232"/>
            <a:ext cx="27432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E293B"/>
                </a:solidFill>
                <a:latin typeface="Aptos"/>
              </a:rPr>
              <a:t>1970 / 1970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38144"/>
            <a:ext cx="2743200" cy="420623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Aptos"/>
              </a:rPr>
              <a:t>Correct cases in confusion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8" y="4224528"/>
            <a:ext cx="2889504" cy="13716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8522208" y="4224528"/>
            <a:ext cx="6400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686800" y="4361688"/>
            <a:ext cx="2596896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Aptos"/>
              </a:rPr>
              <a:t>Academic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736592"/>
            <a:ext cx="2596896" cy="7498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Aptos"/>
              </a:rPr>
              <a:t>The result is excellent, but strong results should be re-checked on new unseen data before real banking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Sabeel Abu Shamlah  •  2:30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Deployment with Flask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Flask connects the trained model to a simple prediction endpoint.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194560" cy="1051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77240" y="2130552"/>
            <a:ext cx="21031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Web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1945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703320" y="2130552"/>
            <a:ext cx="21031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Flask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2194560" cy="10515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629400" y="2130552"/>
            <a:ext cx="21031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ML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828800"/>
            <a:ext cx="1828800" cy="10515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555480" y="2130552"/>
            <a:ext cx="17373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359152"/>
            <a:ext cx="685800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2359152"/>
            <a:ext cx="685800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2359152"/>
            <a:ext cx="685800" cy="0"/>
          </a:xfrm>
          <a:prstGeom prst="line">
            <a:avLst/>
          </a:prstGeom>
          <a:ln w="29209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" y="3456432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749808" y="3456432"/>
            <a:ext cx="64008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14400" y="3593591"/>
            <a:ext cx="309067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68496"/>
            <a:ext cx="3090672" cy="8412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User submits transaction features through the web 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3456432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0" name="Rectangle 19"/>
          <p:cNvSpPr/>
          <p:nvPr/>
        </p:nvSpPr>
        <p:spPr>
          <a:xfrm>
            <a:off x="4407408" y="3456432"/>
            <a:ext cx="64008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0" y="3593591"/>
            <a:ext cx="309067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68496"/>
            <a:ext cx="3090672" cy="8412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Flask loads the trained model, prepares inputs and returns a prediction.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3456432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8065008" y="3456432"/>
            <a:ext cx="64008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229600" y="3593591"/>
            <a:ext cx="309067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968496"/>
            <a:ext cx="3090672" cy="8412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The interface shows the predicted class and a risk score / message.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60704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64748B"/>
                </a:solidFill>
                <a:latin typeface="Aptos"/>
              </a:rPr>
              <a:t>Goal: make the ML model usable by a non-technical user.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Nourhan Shahadeh  •  2:00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Aptos Display"/>
              </a:rPr>
              <a:t>Web Interface and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6984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Aptos"/>
              </a:rPr>
              <a:t>The demo should be simple: enter features → submit → receive a clear fraud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7543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7543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6" name="Oval 5"/>
          <p:cNvSpPr/>
          <p:nvPr/>
        </p:nvSpPr>
        <p:spPr>
          <a:xfrm>
            <a:off x="841248" y="15544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8" name="Oval 7"/>
          <p:cNvSpPr/>
          <p:nvPr/>
        </p:nvSpPr>
        <p:spPr>
          <a:xfrm>
            <a:off x="1353312" y="15544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737360" y="1527048"/>
            <a:ext cx="329184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Fraud Detection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25603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Aptos"/>
              </a:rPr>
              <a:t>Transaction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251460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Aptos"/>
              </a:rPr>
              <a:t>Transaction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862072"/>
            <a:ext cx="246888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78992" y="2962656"/>
            <a:ext cx="21945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Aptos"/>
              </a:rPr>
              <a:t>$ 250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251460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Aptos"/>
              </a:rPr>
              <a:t>Transaction Hour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867912"/>
            <a:ext cx="246888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78992" y="3968496"/>
            <a:ext cx="21945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Apto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606040"/>
            <a:ext cx="251460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Aptos"/>
              </a:rPr>
              <a:t>Device Trust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862072"/>
            <a:ext cx="246888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142232" y="2962656"/>
            <a:ext cx="21945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Aptos"/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611880"/>
            <a:ext cx="251460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Aptos"/>
              </a:rPr>
              <a:t>Location Mismatch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867912"/>
            <a:ext cx="246888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142232" y="3968496"/>
            <a:ext cx="21945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Aptos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828032"/>
            <a:ext cx="246888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05840" y="4937760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Predict Transaction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4736592"/>
            <a:ext cx="3154680" cy="777240"/>
          </a:xfrm>
          <a:prstGeom prst="roundRect">
            <a:avLst/>
          </a:prstGeom>
          <a:solidFill>
            <a:srgbClr val="FEE2E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160520" y="4892040"/>
            <a:ext cx="29718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F4444"/>
                </a:solidFill>
                <a:latin typeface="Aptos"/>
              </a:rPr>
              <a:t>Result: FRAUDULENT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961888"/>
            <a:ext cx="717804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Aptos"/>
              </a:rPr>
              <a:t>Example interface — use the actual project UI during the live demo.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1572768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8503920" y="1572768"/>
            <a:ext cx="64008" cy="1207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668512" y="1709928"/>
            <a:ext cx="258775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Aptos"/>
              </a:rPr>
              <a:t>Step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2084832"/>
            <a:ext cx="2587752" cy="5852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Aptos"/>
              </a:rPr>
              <a:t>Enter the transaction features.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944368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3" name="Rectangle 32"/>
          <p:cNvSpPr/>
          <p:nvPr/>
        </p:nvSpPr>
        <p:spPr>
          <a:xfrm>
            <a:off x="8503920" y="2944368"/>
            <a:ext cx="64008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668512" y="3081528"/>
            <a:ext cx="258775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Aptos"/>
              </a:rPr>
              <a:t>Step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456432"/>
            <a:ext cx="2587752" cy="5852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Aptos"/>
              </a:rPr>
              <a:t>Click Predict and send the request to Flask.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315968"/>
            <a:ext cx="2880360" cy="12070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7" name="Rectangle 36"/>
          <p:cNvSpPr/>
          <p:nvPr/>
        </p:nvSpPr>
        <p:spPr>
          <a:xfrm>
            <a:off x="8503920" y="4315968"/>
            <a:ext cx="64008" cy="1207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668512" y="4453128"/>
            <a:ext cx="2587752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Aptos"/>
              </a:rPr>
              <a:t>Step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2" y="4828031"/>
            <a:ext cx="2587752" cy="5852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Aptos"/>
              </a:rPr>
              <a:t>Show the prediction returned by the model.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492240"/>
            <a:ext cx="110002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594360" y="6537960"/>
            <a:ext cx="40233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Nourhan Shahadeh  •  3:30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537960"/>
            <a:ext cx="713232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pto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42415"/>
            <a:ext cx="7498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From data analysis to a usable fraud-detection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3401568" cy="2084831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64008" cy="20848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92807"/>
            <a:ext cx="2880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ptos"/>
              </a:rPr>
              <a:t>VALUE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0008"/>
            <a:ext cx="290779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4748B"/>
                </a:solidFill>
                <a:latin typeface="Aptos"/>
              </a:rPr>
              <a:t>Complete pipeline from EDA to deployment.</a:t>
            </a:r>
            <a:br/>
            <a:br/>
            <a:r>
              <a:rPr sz="1120" b="0">
                <a:solidFill>
                  <a:srgbClr val="64748B"/>
                </a:solidFill>
                <a:latin typeface="Aptos"/>
              </a:rPr>
              <a:t>Meaningful risk signals guide the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01568" cy="2084831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64008" cy="208483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7"/>
            <a:ext cx="2880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50008"/>
            <a:ext cx="290779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4748B"/>
                </a:solidFill>
                <a:latin typeface="Aptos"/>
              </a:rPr>
              <a:t>Results depend on the dataset.</a:t>
            </a:r>
            <a:br/>
            <a:br/>
            <a:r>
              <a:rPr sz="1120" b="0">
                <a:solidFill>
                  <a:srgbClr val="64748B"/>
                </a:solidFill>
                <a:latin typeface="Aptos"/>
              </a:rPr>
              <a:t>High scores should be validated on new unseen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401568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645920"/>
            <a:ext cx="64008" cy="208483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7"/>
            <a:ext cx="2880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ptos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350008"/>
            <a:ext cx="290779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4748B"/>
                </a:solidFill>
                <a:latin typeface="Aptos"/>
              </a:rPr>
              <a:t>Larger datasets + explainability.</a:t>
            </a:r>
            <a:br/>
            <a:br/>
            <a:r>
              <a:rPr sz="1120" b="0">
                <a:solidFill>
                  <a:srgbClr val="64748B"/>
                </a:solidFill>
                <a:latin typeface="Aptos"/>
              </a:rPr>
              <a:t>Stronger API security and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4160520"/>
            <a:ext cx="10369296" cy="11704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4416552"/>
            <a:ext cx="1024128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4448556"/>
            <a:ext cx="950976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A5E9"/>
                </a:solidFill>
                <a:latin typeface="Aptos"/>
              </a:rP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61688"/>
            <a:ext cx="8183879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Aptos"/>
              </a:rPr>
              <a:t>An accurate model becomes valuable when it supports</a:t>
            </a:r>
            <a:br/>
            <a:r>
              <a:rPr sz="1850" b="1">
                <a:solidFill>
                  <a:srgbClr val="FFFFFF"/>
                </a:solidFill>
                <a:latin typeface="Aptos"/>
              </a:rPr>
              <a:t>clear and actionable fraud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23560"/>
            <a:ext cx="475488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284C7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632704"/>
            <a:ext cx="45720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37960"/>
            <a:ext cx="1100023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74536"/>
            <a:ext cx="38404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4748B"/>
                </a:solidFill>
                <a:latin typeface="Aptos"/>
              </a:rPr>
              <a:t>Sami Ismail  •  3:00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574536"/>
            <a:ext cx="6400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4748B"/>
                </a:solidFill>
                <a:latin typeface="Apto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Fraud Detection System - 25 Minute Graduation Presentation</dc:title>
  <dc:subject>Machine Learning based bank fraud detection</dc:subject>
  <dc:creator>University of Isra - AI Graduation Project</dc:creator>
  <cp:keywords>fraud detection, machine learning, Random Forest, Flask, EDA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